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0EA5E9">
              <a:alpha val="30000"/>
            </a:srgbClr>
          </a:solidFill>
          <a:ln w="12700">
            <a:solidFill>
              <a:srgbClr val="0EA5E9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3657600"/>
            <a:ext cx="6400800" cy="64008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Automática + pt-BR + Rebranding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8961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evolução do Fluxo Email MKT — disparo automático ao receber oportunidade do EVO, sistema 100% em português e remoção da marca Keila.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937760"/>
            <a:ext cx="6400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5074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para alinhamento do time  •  28/04/2026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5486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Cleiton Sampaio  |  Produto + Engenharia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estamos fazendo isso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4864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1965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96596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 chega no EVO e morre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463040" y="2560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novo entra na plataforma EVO (academias W12) e ninguém aciona. Sem cadência, sem follow-up automático.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4864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17920" y="1691640"/>
            <a:ext cx="73152" cy="1965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6596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132320" y="19659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só temos campanha única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132320" y="2560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Email MKT (fork Keila) só dispara campanha agendada/única. Não existe sequência D+1, D+3, D+8.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4864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886200"/>
            <a:ext cx="73152" cy="196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16052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463040" y="4160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 inglês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63040" y="47548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Telas, e-mails transacionais e formulários públicos em inglês — barreira de adoção para academias clientes.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886200"/>
            <a:ext cx="548640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3886200"/>
            <a:ext cx="73152" cy="1965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416052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132320" y="4160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"Keila" ainda visível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7132320" y="47548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Mascote, README, e-mails e admin ainda mostram "Keila". Precisamos rodar 100% como Fluxo Digital Tech.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eixos que vamos entregar juntos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611880" cy="8686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 automática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 → e-mail D+1 / D+3 / D+5 / D+8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38328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por nova oportunidade no EVO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visual configurável pelo time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Oban executando cada etapa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saída automáticos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25112" y="1691640"/>
            <a:ext cx="36118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1691640"/>
            <a:ext cx="3611880" cy="8686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99432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 pt-BR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599432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completa da plataforma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9432" y="338328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"pt" como padrão (default_locale)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de admin, auth, default e errors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transacionais em português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 strings em 5 arquivos .po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1691640"/>
            <a:ext cx="36118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1691640"/>
            <a:ext cx="3611880" cy="86868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1828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75904" y="2103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Rebranding completo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75904" y="274320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Keila, entrar Fluxo Digital Tech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75904" y="3383280"/>
            <a:ext cx="30632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UI, e-mails e templates: Fluxo Email MKT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Mascote elefante: substituir/remover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Domínio: emailmkt.fluxodigitaltech.com.br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ocorrências em 30+ arquivos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1 — CADÊNCIA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do disparo automático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005840" cy="155448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1005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783080" y="173736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0C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830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 API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78308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fetch_prospects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 rot="5400000">
            <a:off x="4023360" y="2377440"/>
            <a:ext cx="274320" cy="274320"/>
          </a:xfrm>
          <a:prstGeom prst="rtTriangle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73736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0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Worker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30 min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rot="5400000">
            <a:off x="6537960" y="2377440"/>
            <a:ext cx="274320" cy="274320"/>
          </a:xfrm>
          <a:prstGeom prst="rtTriangle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173736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0C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Contato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1228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evo_lead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9052560" y="2377440"/>
            <a:ext cx="274320" cy="274320"/>
          </a:xfrm>
          <a:prstGeom prst="rtTriangle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326880" y="173736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0C4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Inscreve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326880" y="2514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automation_subscription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362895" y="3337560"/>
            <a:ext cx="54864" cy="50292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10800000">
            <a:off x="10198303" y="3822192"/>
            <a:ext cx="365760" cy="27432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4160520"/>
            <a:ext cx="1005840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160520"/>
            <a:ext cx="1005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783080" y="416052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83080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D+1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783080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783080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 rot="5400000">
            <a:off x="3630168" y="4873752"/>
            <a:ext cx="274320" cy="320040"/>
          </a:xfrm>
          <a:prstGeom prst="rtTriangl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76472" y="416052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76472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D+3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776472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776472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Depoimento + CTA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 rot="5400000">
            <a:off x="5623560" y="4873752"/>
            <a:ext cx="274320" cy="320040"/>
          </a:xfrm>
          <a:prstGeom prst="rtTriangl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69864" y="416052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9864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69864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769864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mensalidade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 rot="5400000">
            <a:off x="7616952" y="4873752"/>
            <a:ext cx="274320" cy="320040"/>
          </a:xfrm>
          <a:prstGeom prst="rtTriangl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763256" y="416052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5875">
            <a:solidFill>
              <a:srgbClr val="F9731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63256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63256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chamada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763256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Convite final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 rot="5400000">
            <a:off x="9610344" y="4873752"/>
            <a:ext cx="274320" cy="320040"/>
          </a:xfrm>
          <a:prstGeom prst="rtTriangl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56648" y="4160520"/>
            <a:ext cx="1828800" cy="1737360"/>
          </a:xfrm>
          <a:prstGeom prst="roundRect">
            <a:avLst>
              <a:gd name="adj" fmla="val 5263"/>
            </a:avLst>
          </a:prstGeom>
          <a:solidFill>
            <a:srgbClr val="10B981"/>
          </a:solidFill>
          <a:ln w="15875">
            <a:solidFill>
              <a:srgbClr val="10B98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756648" y="4343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9756648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9756648" y="53035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exit criteria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D+N é um Oban Worker agendado. Critérios de saída (clique no agendamento, resposta, descadastro, conversão no EVO) interrompem a sequência a qualquer momento.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1 — CADÊNCIA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Arquitetura técnica da automação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77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5720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Novas tabelas no Postgres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70662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project_id, name, trigger_type, trigger_config (jsonb), active, inserted_at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68680" y="318211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automação por cadência. trigger_type = 'evo_new_prospect' por enquanto.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36118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automation_steps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94106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automation_id, position, delay_days, delay_hours, template_id, subject, send_window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868680" y="44165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e-mail da sequência. Ordenado por position. Janela de envio (ex: 9h–18h).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4846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C4A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automation_subscriptions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17550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id, automation_id, contact_id, current_step, status, exit_reason, started_at, last_sent_at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68680" y="565099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por contato. status: active | paused | completed | exited.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355080" y="1691640"/>
            <a:ext cx="52578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55080" y="1691640"/>
            <a:ext cx="73152" cy="4572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e módulos Elixir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75120" y="2377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Fluxo.Automations.EvoSyncWorker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675120" y="267004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Oban a cada 30 min. Chama Integrations.Evo.fetch_prospects, cria contatos novos e inscreve na automação ativa.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0" y="3337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Fluxo.Automations.StepWorker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675120" y="363016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único por subscription+step. Renderiza com Mailings.Builder (Liquid + MJML) e envia pelo SenderAdapter do projeto.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Fluxo.Automations.ExitChecker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675120" y="459028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antes de cada step. Checa: respondeu, descadastrou, hard bounce, status EVO mudou para convertido.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75120" y="52578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FluxoWeb.Live.AutomationEditor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675120" y="5550408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LiveView do editor visual: arrastar e soltar steps, definir delay, escolher template, prever próxima execução.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1 — CADÊNCIA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EVO dispara a cadência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0352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57200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 trigger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Frequência do sync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83464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minutos (configurável)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captura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prospectStatus = "novo" e e-mail válido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3375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busca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3464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registerDate ≥ último sync − 1h (overlap de segurança)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3840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idProspect (campo id_evo no contato)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4343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aplicada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34640" y="4343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evo_lead + nome da unidade (branchName)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Origem registrada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4846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prospectSource salvo em metadata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53492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Re-inscrição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53492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permitida nos últimos 90 dias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35040" y="1691640"/>
            <a:ext cx="5577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1691640"/>
            <a:ext cx="73152" cy="4572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636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EvoSyncWorker (pseudocódigo)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263640" y="2331720"/>
            <a:ext cx="521208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perform(_)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project &lt;- Projects.with_evo_enabled() 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{:ok, prospects, _}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Integrations.Evo.fetch_prospects(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evo_dns: project.evo_dns,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evo_secret_key: project.evo_secret_key,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register_date_start: last_sync(project)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Enum.each(prospects, fn p -&gt;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contact = Contacts.upsert_by_evo_id(project, p)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auto    = Automations.active_for(project, :evo_new)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Automations.subscribe(auto, contact)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1 — CADÊNCIA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proposto dos 4 e-mails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974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2697480" cy="6400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Bem-vindo(a) à {{ unidade }}, {{ first_name }}!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397764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da unidade, foto do espaço e benefício principal. CTA: agendar visita guiada. Tom acolhedor e curto.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55321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532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≥ 45%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0" y="1691640"/>
            <a:ext cx="26974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83280" y="1691640"/>
            <a:ext cx="2697480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66160" y="2514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first_name }}, conhece nossas modalidades?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56616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66160" y="397764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modalidades + depoimento real de aluno + CTA agendar avaliação física gratuita. Imagens fortes.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566160" y="55321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66160" y="5532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≥ 8%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691640"/>
            <a:ext cx="26974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217920" y="1691640"/>
            <a:ext cx="2697480" cy="64008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00800" y="2514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exclusiva: 50% off na primeira mensalidade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0" y="397764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de urgência (válido por 48h). CTA único: matricular agora. Botão laranja, sem distrações.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0" y="55321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5532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≥ 4%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052560" y="1691640"/>
            <a:ext cx="269748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52560" y="1691640"/>
            <a:ext cx="2697480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52560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D+8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235440" y="25146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235440" y="2743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{{ first_name }}, ainda dá tempo de começar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235440" y="374904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9235440" y="3977640"/>
            <a:ext cx="2331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chamada empática. Reforça apoio do time, lista as dúvidas mais comuns. CTA: falar no WhatsApp.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9235440" y="5532120"/>
            <a:ext cx="233172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235440" y="5532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p/ WhatsApp ≥ 3%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1 — CADÊNCIA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saída (quando a cadência para)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1965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no EVO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606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prospectStatus muda para convertido/matriculado, exit_reason = converted.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31927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319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Sucesso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325112" y="169164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25112" y="1691640"/>
            <a:ext cx="73152" cy="1965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53712" y="1965960"/>
            <a:ext cx="502920" cy="5029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239512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Clicou no CTA principal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99432" y="2606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link de agendamento ou WhatsApp pausa a cadência (engajou).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99432" y="331927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99432" y="3319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Engajou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101584" y="169164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01584" y="1691640"/>
            <a:ext cx="73152" cy="1965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30184" y="196596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30184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15984" y="196596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Respondeu o e-mail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375904" y="2606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 detectada via reply-to dedicado. Time comercial assume manualmente.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75904" y="331927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75904" y="331927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Comercial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38862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8640" y="3886200"/>
            <a:ext cx="73152" cy="1965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463040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Descadastrou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2960" y="4800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Unsubscribe interrompe imediatamente e marca contato como opt-out global.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22960" y="551383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513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Opt-out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325112" y="38862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325112" y="3886200"/>
            <a:ext cx="73152" cy="19659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53712" y="4160520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53712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239512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bounce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599432" y="4800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inválido invalida o contato e cancela toda inscrição em automações.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99432" y="551383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99432" y="5513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101584" y="3886200"/>
            <a:ext cx="3611880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101584" y="3886200"/>
            <a:ext cx="73152" cy="1965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30184" y="4160520"/>
            <a:ext cx="502920" cy="502920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330184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9015984" y="416052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 da sequência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8375904" y="480060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D+8 sem conversão, marca completed. Pode entrar em lista de re-engajamento.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8375904" y="5513832"/>
            <a:ext cx="1188720" cy="274320"/>
          </a:xfrm>
          <a:prstGeom prst="roundRect">
            <a:avLst>
              <a:gd name="adj" fmla="val 16667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75904" y="5513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2 — PT-BR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tradução completa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5760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27432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a traduzir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distribuídas em 5 arquivos .po (admin, auth, default, errors, cloud)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691640"/>
            <a:ext cx="71780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1691640"/>
            <a:ext cx="73152" cy="4572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288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63440" y="233172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49240" y="233172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locale padrão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266090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:keila, KeilaWeb.Gettext, default_locale: "pt", locales: ~w(pt en es)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310896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49240" y="310896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priv/gettext/pt/LC_MESSAGES/*.po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343814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existe a pasta. Rodar mix gettext.merge para sincronizar com .pot e traduzir os msgstr vazios.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63440" y="388620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349240" y="388620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Traduzir e-mails transacionais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421538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Boas-vindas, double opt-in, redefinição de senha. Templates em lib/keila/auth/emails.ex.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466344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49240" y="466344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formatos pt-BR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499262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 DD/MM/AAAA, R$, separador decimal vírgula. Usar Cldr.Locale (já instalado).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663440" y="544068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349240" y="5440680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Forçar locale para todos os usuários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5769864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que define language = 'pt' nos usuários existentes. Novo usuário cai em pt por default.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3 — REBRANDING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Keila para Fluxo Digital Tech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5778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73152" cy="45720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 sair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286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"Keila"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ocorrências em 30+ arquivos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29260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4300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do elefante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8346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.github/assets/logo.svg + favicon + og:image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68680" y="347472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3383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Mascote / persona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"elephant lady" do README e UI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8680" y="40233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43000" y="3931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Domínios externos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39319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keila.io, app.keila.io, fosstodon.org/@keila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68680" y="457200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4300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E-mails "no-reply@keila"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44805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para no-reply@fluxodigitaltech.com.br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512064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5029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de docs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5029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keila.io/docs → docs.fluxodigitaltech.com.br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68680" y="566928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43000" y="5577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das campanhas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55778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Keila → Powered by Fluxo Email MKT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55080" y="1691640"/>
            <a:ext cx="525780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1691640"/>
            <a:ext cx="73152" cy="4572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entra no lugar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75120" y="23774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49440" y="2286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produto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823960" y="2286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Email MKT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675120" y="29260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82396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675120" y="3474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3383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Domínio principal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823960" y="3383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emailmkt.fluxodigitaltech.com.br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675120" y="40233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técnico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23960" y="3931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no-reply@fluxodigitaltech.com.br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675120" y="45720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44805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23960" y="4480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Fluxo (substituir SVG)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675120" y="51206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5029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823960" y="5029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marketing brasileiro, sem complicação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675120" y="56692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5577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sobre módulos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23960" y="5577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Manter Keila.* internamente (custo alto de rename) — só UI/UX rebrand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3 — REBRANDING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dos arquivos com Keila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91640"/>
            <a:ext cx="3611880" cy="7772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013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VÊ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0756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e e-mails (impacto alto)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lib/keila_web/templates/**/*.eex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3200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lib/keila/auth/emails.ex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703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priv/gettext/**/*.po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.github/assets/logo.svg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709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assets/static/favicon.ico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5212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assets/static/images/og_image.*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25112" y="169164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25112" y="1691640"/>
            <a:ext cx="3611880" cy="7772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53712" y="18013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DEPLOY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20756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(impacto médio)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99432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config/runtime.exs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99432" y="3200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config/prod.exs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99432" y="3703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.env.production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99432" y="4206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DEPLOYMENT.md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99432" y="4709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PRODUCTION_README.md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99432" y="5212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docker-compose.yml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101584" y="1691640"/>
            <a:ext cx="36118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01584" y="1691640"/>
            <a:ext cx="3611880" cy="77724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30184" y="18013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30184" y="207568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Elixir (manter)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75904" y="26974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lib/keila.ex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75904" y="32004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lib/keila_web.ex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75904" y="3703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lib/keila/**/*.ex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75904" y="420624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Manter namespace Keila.*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375904" y="47091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 de rename muito alto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75904" y="521208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Public API interna apenas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em 5 sprints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4114800"/>
            <a:ext cx="110642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9304" y="3767328"/>
            <a:ext cx="731520" cy="731520"/>
          </a:xfrm>
          <a:prstGeom prst="ellipse">
            <a:avLst/>
          </a:prstGeom>
          <a:solidFill>
            <a:srgbClr val="0EA5E9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89304" y="3767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pt-BR + Rebranding UI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636776" y="2743200"/>
            <a:ext cx="36576" cy="10058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709160"/>
            <a:ext cx="19385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Locale pt como default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.po completa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Find/replace Keila → Fluxo na UI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e favicon novos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02152" y="3767328"/>
            <a:ext cx="731520" cy="731520"/>
          </a:xfrm>
          <a:prstGeom prst="ellipse">
            <a:avLst/>
          </a:prstGeom>
          <a:solidFill>
            <a:srgbClr val="0C4A6E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3767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852928" y="17830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+ Admin de Automação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52928" y="2423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49624" y="2743200"/>
            <a:ext cx="36576" cy="1005840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98648" y="4709160"/>
            <a:ext cx="19385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 (3 tabelas novas)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Contexts Automations e Subscriptions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via LiveView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de listagem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3767328"/>
            <a:ext cx="731520" cy="731520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3767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65776" y="17830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e Builder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65776" y="2423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62472" y="2743200"/>
            <a:ext cx="36576" cy="10058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11496" y="4709160"/>
            <a:ext cx="19385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StepWorker (Oban)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Mailings.Builder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ExitChecker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e tracking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27848" y="3767328"/>
            <a:ext cx="731520" cy="731520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27848" y="3767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278624" y="17830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EVO + Editor Visual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78624" y="2423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semana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75320" y="2743200"/>
            <a:ext cx="36576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24344" y="4709160"/>
            <a:ext cx="19385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EvoSyncWorker cron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prospect→contact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 drag-and-drop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Pré-visualização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140696" y="3767328"/>
            <a:ext cx="731520" cy="731520"/>
          </a:xfrm>
          <a:prstGeom prst="ellipse">
            <a:avLst/>
          </a:prstGeom>
          <a:solidFill>
            <a:srgbClr val="F59E0B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140696" y="3767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9491472" y="178308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Métricas, QA e piloto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91472" y="2423160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dias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488168" y="2743200"/>
            <a:ext cx="36576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537192" y="4709160"/>
            <a:ext cx="1938528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cadências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com unidade-piloto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interna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geral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11155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medir o sucesso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3721608"/>
            <a:ext cx="361188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8288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45%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D+1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toque é o mais importante. Benchmark fitness BR.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69164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3721608"/>
            <a:ext cx="3611880" cy="7315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8288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8%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4507992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 principal D+3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07992" y="3154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link de avaliação física gratuita.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101584" y="169164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01584" y="3721608"/>
            <a:ext cx="361188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01584" y="182880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8%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8284464" y="278892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Conversão lead→aluno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84464" y="3154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consolidada da cadência completa.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6053328"/>
            <a:ext cx="3611880" cy="73152"/>
          </a:xfrm>
          <a:prstGeom prst="rect">
            <a:avLst/>
          </a:prstGeom>
          <a:solidFill>
            <a:srgbClr val="0C4A6E"/>
          </a:solidFill>
          <a:ln w="12700">
            <a:solidFill>
              <a:srgbClr val="0C4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160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− 60%</a:t>
            </a:r>
            <a:endParaRPr lang="en-US" sz="5600" dirty="0"/>
          </a:p>
        </p:txBody>
      </p:sp>
      <p:sp>
        <p:nvSpPr>
          <p:cNvPr id="23" name="Text 21"/>
          <p:cNvSpPr/>
          <p:nvPr/>
        </p:nvSpPr>
        <p:spPr>
          <a:xfrm>
            <a:off x="731520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do funil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1520" y="5486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Versus follow-up manual atual (média 21 dias).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325112" y="402336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25112" y="6053328"/>
            <a:ext cx="3611880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25112" y="4160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0.3%</a:t>
            </a:r>
            <a:endParaRPr lang="en-US" sz="5600" dirty="0"/>
          </a:p>
        </p:txBody>
      </p:sp>
      <p:sp>
        <p:nvSpPr>
          <p:cNvPr id="28" name="Text 26"/>
          <p:cNvSpPr/>
          <p:nvPr/>
        </p:nvSpPr>
        <p:spPr>
          <a:xfrm>
            <a:off x="4507992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bounce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07992" y="5486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da reputação do IP compartilhado.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01584" y="4023360"/>
            <a:ext cx="361188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01584" y="6053328"/>
            <a:ext cx="36118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01584" y="416052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5600" dirty="0"/>
          </a:p>
        </p:txBody>
      </p:sp>
      <p:sp>
        <p:nvSpPr>
          <p:cNvPr id="33" name="Text 31"/>
          <p:cNvSpPr/>
          <p:nvPr/>
        </p:nvSpPr>
        <p:spPr>
          <a:xfrm>
            <a:off x="8284464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Cobertura pt-BR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284464" y="548640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string em inglês visível ao usuário final.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6492240"/>
            <a:ext cx="110642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656539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Digital Tech  •  Fluxo Email MKT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002975" y="6565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4A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828800"/>
            <a:ext cx="7315200" cy="7315200"/>
          </a:xfrm>
          <a:prstGeom prst="ellipse">
            <a:avLst/>
          </a:prstGeom>
          <a:solidFill>
            <a:srgbClr val="F97316">
              <a:alpha val="20000"/>
            </a:srgbClr>
          </a:solidFill>
          <a:ln w="12700">
            <a:solidFill>
              <a:srgbClr val="F97316">
                <a:alpha val="2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do time hoje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286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240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copies da cadência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25786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tom dos 4 e-mails antes de implementar templates.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06324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08760" y="3017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frequência do sync EVO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08760" y="335584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 (mais leads frescos) ou 30 min (carga reduzida)?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840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37947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unidade-piloto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508760" y="413308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 2 academias para teste controlado de 30 dias.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08760" y="45720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identidade visual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508760" y="4910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Logo, paleta e tipografia oficiais do Fluxo Digital Tech.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5394960"/>
            <a:ext cx="548640" cy="5486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53492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kickoff Sprint 1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08760" y="5687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tradução pt-BR + rebranding UI nesta semana.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640080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Cleiton Sampaio  •  Fluxo Digital Tech  •  cleiton.nso2019@gmail.com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Fluxo Email MKT — Cadência Automática EVO + Rebranding + pt-BR</dc:title>
  <dc:subject>PptxGenJS Presentation</dc:subject>
  <dc:creator>Fluxo Digital Tech</dc:creator>
  <cp:lastModifiedBy>Fluxo Digital Tech</cp:lastModifiedBy>
  <cp:revision>1</cp:revision>
  <dcterms:created xsi:type="dcterms:W3CDTF">2026-04-28T14:37:12Z</dcterms:created>
  <dcterms:modified xsi:type="dcterms:W3CDTF">2026-04-28T14:37:12Z</dcterms:modified>
</cp:coreProperties>
</file>