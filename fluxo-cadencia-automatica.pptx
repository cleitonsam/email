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EA5E9">
              <a:alpha val="30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F97316">
              <a:alpha val="20000"/>
            </a:srgbClr>
          </a:solidFill>
          <a:ln w="12700">
            <a:solidFill>
              <a:srgbClr val="F97316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188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Cadencias, pt-BR, Rebranding e Anti-spam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8961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completo de evolucao do Fluxo Email MKT - duas cadencias automaticas (Oportunidade + Aniversariante), painel de monitoramento, sistema 100% pt-BR, rebranding completo e blindagem anti-spam.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4937760"/>
            <a:ext cx="64008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074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Apresentacao para alinhamento - 28/04/2026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5486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Cleiton Sampaio | Produto + Engenharia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estamos fazendo isso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73152" cy="1965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1965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chega no EVO e morre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5603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novo entra na plataforma EVO e ninguem aciona.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54864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691640"/>
            <a:ext cx="73152" cy="1965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965960"/>
            <a:ext cx="502920" cy="50292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32320" y="1965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Aniversariantes nao recebem nada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132320" y="25603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tem aniversario toda semana. Nenhum disparo automatico.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54864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886200"/>
            <a:ext cx="73152" cy="19659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160520"/>
            <a:ext cx="502920" cy="50292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63040" y="41605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monitoramento real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63040" y="47548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Nao enxergamos abertura, clique, descadastro ou conversao.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3886200"/>
            <a:ext cx="54864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886200"/>
            <a:ext cx="73152" cy="1965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92240" y="4160520"/>
            <a:ext cx="502920" cy="5029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32320" y="41605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cair em spam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32320" y="47548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SPF/DKIM/DMARC e sem higiene, qualquer envio vira blacklist.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VISAO GERAL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eixos de entrega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2697480" cy="8686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Cadencias automaticas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+ Aniversariante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22402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por evento EVO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Oban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saida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visual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1691640"/>
            <a:ext cx="26974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9000" y="1691640"/>
            <a:ext cx="2697480" cy="8686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0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57600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em tempo real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383280"/>
            <a:ext cx="22402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Aberturas, cliques, bounces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 por step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unidade EVO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automaticos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09360" y="1691640"/>
            <a:ext cx="26974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1691640"/>
            <a:ext cx="2697480" cy="86868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37960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pt-BR + Rebranding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37960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100% Fluxo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37960" y="3383280"/>
            <a:ext cx="22402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 pt como padrao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Keila para Fluxo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dominio, e-mails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ocorrencias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89720" y="1691640"/>
            <a:ext cx="26974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89720" y="1691640"/>
            <a:ext cx="2697480" cy="8686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3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418320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Anti-spam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418320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Reputacao e entregabilidade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418320" y="3383280"/>
            <a:ext cx="22402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SPF / DKIM / DMARC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de IP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Higiene de lista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+ opt-in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1 - CADENCIA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 de Oportunidade (lead novo)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005840" cy="155448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1005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17373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C4A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 API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78308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fetch_prospects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rot="5400000">
            <a:off x="4023360" y="2377440"/>
            <a:ext cx="274320" cy="274320"/>
          </a:xfrm>
          <a:prstGeom prst="rtTriangle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7373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C4A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Worker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9768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30 min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rot="5400000">
            <a:off x="6537960" y="2377440"/>
            <a:ext cx="274320" cy="274320"/>
          </a:xfrm>
          <a:prstGeom prst="rtTriangle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12280" y="17373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C4A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Contato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1228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tag: evo_lead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rot="5400000">
            <a:off x="9052560" y="2377440"/>
            <a:ext cx="274320" cy="274320"/>
          </a:xfrm>
          <a:prstGeom prst="rtTriangle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26880" y="17373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C4A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Inscreve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automation_subscription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362895" y="3337560"/>
            <a:ext cx="54864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10198303" y="3822192"/>
            <a:ext cx="365760" cy="274320"/>
          </a:xfrm>
          <a:prstGeom prst="rtTriangl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160520"/>
            <a:ext cx="1005840" cy="17373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160520"/>
            <a:ext cx="1005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783080" y="416052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83080" y="4343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783080" y="4846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Boas-vindas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783080" y="5303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Apresentacao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 rot="5400000">
            <a:off x="3630168" y="4873752"/>
            <a:ext cx="274320" cy="320040"/>
          </a:xfrm>
          <a:prstGeom prst="rtTriangl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76472" y="416052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76472" y="4343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776472" y="4846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Modalidades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776472" y="5303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Depoimento + CTA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5623560" y="4873752"/>
            <a:ext cx="274320" cy="320040"/>
          </a:xfrm>
          <a:prstGeom prst="rtTriangl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69864" y="416052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9864" y="4343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D+5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769864" y="4846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769864" y="5303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Mensalidade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rot="5400000">
            <a:off x="7616952" y="4873752"/>
            <a:ext cx="274320" cy="320040"/>
          </a:xfrm>
          <a:prstGeom prst="rtTriangl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63256" y="416052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63256" y="4343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763256" y="4846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 chamada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763256" y="5303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final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rot="5400000">
            <a:off x="9610344" y="4873752"/>
            <a:ext cx="274320" cy="320040"/>
          </a:xfrm>
          <a:prstGeom prst="rtTriangl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756648" y="416052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10B981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56648" y="4343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756648" y="4846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Conversao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756648" y="5303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exit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bloco D+N e um Oban Worker. Criterios de saida interrompem a sequencia.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1 - CADENCIA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 de Aniversariante (member ativo)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005840" cy="155448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1005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17373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C4A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2011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members/summary-excel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8308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 retorna XLSX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rot="5400000">
            <a:off x="4023360" y="2377440"/>
            <a:ext cx="274320" cy="274320"/>
          </a:xfrm>
          <a:prstGeom prst="rtTriangle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7373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C4A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011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Function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Supabase: XLSX -&gt; JSON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rot="5400000">
            <a:off x="6537960" y="2377440"/>
            <a:ext cx="274320" cy="274320"/>
          </a:xfrm>
          <a:prstGeom prst="rtTriangle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12280" y="17373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C4A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2011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6h diario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1228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hoje (MM-DD)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rot="5400000">
            <a:off x="9052560" y="2377440"/>
            <a:ext cx="274320" cy="274320"/>
          </a:xfrm>
          <a:prstGeom prst="rtTriangle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26880" y="17373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C4A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2011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automation: birthday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362895" y="3337560"/>
            <a:ext cx="54864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10198303" y="3822192"/>
            <a:ext cx="365760" cy="274320"/>
          </a:xfrm>
          <a:prstGeom prst="rtTriangl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160520"/>
            <a:ext cx="1005840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160520"/>
            <a:ext cx="1005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783080" y="4160520"/>
            <a:ext cx="21945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EC48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83080" y="4343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D-7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78308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783080" y="5303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especial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 rot="5400000">
            <a:off x="4023360" y="4873752"/>
            <a:ext cx="274320" cy="320040"/>
          </a:xfrm>
          <a:prstGeom prst="rtTriangl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97680" y="4160520"/>
            <a:ext cx="21945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EC48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97680" y="4343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29768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Feliz aniversario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97680" y="5303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 + cupom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537960" y="4873752"/>
            <a:ext cx="274320" cy="320040"/>
          </a:xfrm>
          <a:prstGeom prst="rtTriangl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4160520"/>
            <a:ext cx="21945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EC48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12280" y="4343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D+15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81228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12280" y="5303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antes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rot="5400000">
            <a:off x="9052560" y="4873752"/>
            <a:ext cx="274320" cy="320040"/>
          </a:xfrm>
          <a:prstGeom prst="rtTriangl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326880" y="4160520"/>
            <a:ext cx="2194560" cy="1737360"/>
          </a:xfrm>
          <a:prstGeom prst="roundRect">
            <a:avLst>
              <a:gd name="adj" fmla="val 5263"/>
            </a:avLst>
          </a:prstGeom>
          <a:solidFill>
            <a:srgbClr val="10B981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880" y="4343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32688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 ou expira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326880" y="5303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+ reset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diario 6h via Edge Function Supabase. Filtra MM-DD = hoje. Pula contratos cancelados.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1 - CADENCIA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tecnica unificada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7784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73152" cy="45720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no Postgres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4A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6151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project_id, name, trigger_type, config, active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8986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trigger_type: evo_new_prospect ou evo_birthday.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291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4A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automation_steps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57530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automation_id, position, delay_days, template_id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38587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Suporta delay negativo (D-7).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68680" y="4251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4A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automation_subscriptions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45354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contact_id, current_step, status, exit_reason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" y="48188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| paused | completed | exited.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5212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4A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automation_events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54955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subscription_id, step_id, event_type, occurred_at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68680" y="57790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 dashboard de metricas.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55080" y="1691640"/>
            <a:ext cx="52578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55080" y="1691640"/>
            <a:ext cx="73152" cy="45720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Oban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EvoLeadSyncWorker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261518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min. Puxa prospects e inscreve em evo_new_prospect.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67512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EvoBirthdaySyncWorker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0" y="33924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06h diario. Le summary-excel e casa MM-DD.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512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StepWorker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966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Renderiza, envia e registra eventos.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0" y="4663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ExitChecker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75120" y="494690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Conversao, descadastro, bounce, status EVO.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5440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SuppressionGuard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0" y="572414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list e frequencia max (3/sem).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 OPORTUNIDADE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Conteudo dos 4 e-mails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2697480" cy="6400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28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Bem-vindo(a) a {{ unidade }}, {{ first_name }}!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397764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Apresentacao da unidade, foto e beneficio principal. CTA: agendar visita.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553212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5321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45%+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691640"/>
            <a:ext cx="26974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83280" y="1691640"/>
            <a:ext cx="2697480" cy="6400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828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66160" y="25146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66160" y="27432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 first_name }}, conhece nossas modalidades?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66160" y="37490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66160" y="397764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modalidades + depoimento + CTA agendar avaliacao.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66160" y="553212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55321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8%+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1691640"/>
            <a:ext cx="26974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691640"/>
            <a:ext cx="2697480" cy="64008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1828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00800" y="25146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0" y="27432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exclusiva: 50% off na primeira mensalidade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0" y="37490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0" y="397764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 de urgencia (48h). CTA unico: matricular.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0" y="553212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55321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Conversao 4%+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52560" y="1691640"/>
            <a:ext cx="26974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052560" y="1691640"/>
            <a:ext cx="269748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828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D+8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235440" y="25146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235440" y="27432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 first_name }}, ainda da tempo de comecar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235440" y="37490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235440" y="3977640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 chamada empatica. CTA: WhatsApp.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235440" y="553212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35440" y="55321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3%+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 ANIVERSARIANTE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Conteudo dos 3 e-mails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3611880" cy="6858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288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 first_name }}, seu mes comecou - tem presente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8404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411480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 que o mes de aniversario tem beneficio. Cria expectativa.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5577840"/>
            <a:ext cx="31546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5778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50%+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1691640"/>
            <a:ext cx="36118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25112" y="1691640"/>
            <a:ext cx="3611880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25112" y="18288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53712" y="260604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2880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Feliz aniversario, {{ first_name }}!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53712" y="38404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53712" y="411480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Parabens + presente concreto (30% off, kit, aula). CTA unico.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53712" y="5577840"/>
            <a:ext cx="31546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55778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 22%+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01584" y="1691640"/>
            <a:ext cx="36118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01584" y="1691640"/>
            <a:ext cx="361188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01584" y="18288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D+15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330184" y="260604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30184" y="2880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{{ dias }} dias pra usar seu presente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330184" y="38404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30184" y="411480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urgencia. Link direto ou WhatsApp.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30184" y="5577840"/>
            <a:ext cx="31546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30184" y="55778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 +8%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2 - MONITORAMENTO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abas no admin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56232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18562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3856" y="1856232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81051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emailmkt.fluxodigitaltech.com.br/automations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2286000"/>
            <a:ext cx="2377440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7560" y="228600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Aniversariante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2286000"/>
            <a:ext cx="21945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Nova cadencia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3063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cadencia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3429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3520440" y="3063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0332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D+1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703320" y="3429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126480" y="3063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3429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8732520" y="3063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1540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15400" y="3429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14400" y="4297680"/>
            <a:ext cx="103327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7280" y="443484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Boas-vindas EVO Lead - Ativa - D+1 D+3 D+5 D+8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9728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10896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3232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Ultima acao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14400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97280" y="5074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 Ribeiro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108960" y="5074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20640" y="5074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32320" y="5074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Abriu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144000" y="5074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Engajou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97280" y="5367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Costa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108960" y="5367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120640" y="5367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132320" y="5367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144000" y="5367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97280" y="5660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 Souza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108960" y="5660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120640" y="5660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D+5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132320" y="5660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Clicou agendar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144000" y="5660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aba e uma automation com trigger_type proprio. Mesmo motor, conteudo e metricas separados.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2 - MONITORAMENTO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medir e mostrar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3611880" cy="7772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5623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cadencia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697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inscritos / ativos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429000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337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abertura por step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4069080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por link e step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709160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Conversao final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5349240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5257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Saidas por motivo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5112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25112" y="1691640"/>
            <a:ext cx="3611880" cy="7772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53712" y="185623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step (D+N)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99432" y="278892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2697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Enviados / Abertos / Clicados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99432" y="342900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3337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medio ate abrir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99432" y="406908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medio ate clicar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99432" y="470916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73752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de horario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99432" y="534924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73752" y="5257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resposta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01584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01584" y="1691640"/>
            <a:ext cx="361188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0184" y="185623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Saude do envio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8375904" y="278892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50224" y="2697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(alerta 2%)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375904" y="342900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0224" y="3337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complaint (alerta 0.1%)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375904" y="406908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50224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Postmaster Tools (Gmail)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375904" y="470916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50224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SNDS (Outlook)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375904" y="534924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50224" y="5257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por hora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agregavel por unidade EVO, origem, faixa horaria e dia da semana.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2 - MONITORAMENTO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 de Contatos com integracao EVO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56232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18562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3856" y="1856232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81051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emailmkt.fluxodigitaltech.com.br/contacts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286000"/>
            <a:ext cx="2377440" cy="379476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423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 Lead | Member | Manual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60120" y="3337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3593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| Aniversariante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EVO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| Norte | Sul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4434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contrato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4690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 | Atraso | Cancelado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6012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Engajamento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5239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 | Frio | Opt-out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60120" y="5532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57881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evo_lead | aniversariante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3756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- 1.247 ativos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692640" y="2286000"/>
            <a:ext cx="1691640" cy="384048"/>
          </a:xfrm>
          <a:prstGeom prst="roundRect">
            <a:avLst>
              <a:gd name="adj" fmla="val 14286"/>
            </a:avLst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2860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Sincronizar EVO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3756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532120" y="2788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81228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 ativa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366760" y="2788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09828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Engajamento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561320" y="2788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37560" y="3108960"/>
            <a:ext cx="80467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37560" y="31546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 Ribeiro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37560" y="33558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aline@gmail.com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32120" y="320954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32120" y="32095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 Lead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812280" y="3209544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32095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366760" y="32095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98280" y="32095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Abriu 14:30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561320" y="32095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Engajou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337560" y="3657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Daniela Alves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37560" y="38587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dani@hotmail.com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32120" y="371246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32120" y="37124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 Member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12280" y="3712464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12280" y="37124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Aniversariante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366760" y="37124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98280" y="37124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Clicou cupom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0561320" y="37124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Resgatou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37560" y="4114800"/>
            <a:ext cx="80467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3756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Costa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337560" y="436168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bruno@uol.com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32120" y="421538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32120" y="4215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 Lead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12280" y="4215384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12280" y="4215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366760" y="42153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D+1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9098280" y="4215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10561320" y="4215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337560" y="4663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 Pinto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337560" y="486460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eduardo@gmail.com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532120" y="471830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32120" y="47183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 Member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812280" y="4718304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12280" y="4718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Aniversariante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8366760" y="471830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D-7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9098280" y="4718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Nao abriu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10561320" y="4718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Frio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337560" y="5120640"/>
            <a:ext cx="80467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37560" y="51663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Fernanda Lima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3337560" y="5367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fer@gmail.com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5532120" y="522122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532120" y="52212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 Member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812280" y="5221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8366760" y="52212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9098280" y="5221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contrato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10561320" y="5221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Pausado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3337560" y="5669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Gustavo Alencar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337560" y="58704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gustavo@yahoo.com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532120" y="572414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532120" y="57241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812280" y="57241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8366760" y="572414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98280" y="57241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45 dias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10561320" y="57241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Frio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contato carrega: id_evo, contractStatus, branchName, registerDate, historico e timeline de cadencias.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4 - ANTI-SPAM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Fundacao tecnica: autenticacao e reputacao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7784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73152" cy="45720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Autenticacao DNS (obrigatorio)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0" y="2286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autorizando IPs e servicos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880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DKIM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86000" y="2880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RSA 2048. Rotacao 6 meses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DMARC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3474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 progressiva: none -&gt; reject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4069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rDNS / PTR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4069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resolve para subdominio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4663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BIMI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86000" y="4663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verificado no inbox. Fase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5257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TLS / STARTTLS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52578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criptografado. MTA-STS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1691640"/>
            <a:ext cx="52578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55080" y="1691640"/>
            <a:ext cx="73152" cy="4572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Reputacao de IP e envio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dedicado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75320" y="22860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30k/mes. Antes, compartilhado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75320" y="28803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50 -&gt; 100 -&gt; 500 -&gt; 2k em 28 dias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Postmaster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5320" y="3474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+ Microsoft SNDS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Score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75320" y="40690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80+. Abaixo 70 pausar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75120" y="4663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46634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Spamhaus / Barracuda via MXToolbox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0" y="5257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75320" y="52578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Gmail/Yahoo. Complaint = remover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4 - ANTI-SPAM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Higiene, comportamento e LGPD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3611880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5623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Higiene de lista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opt-in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9077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Confirmacao em forms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Validacao 3-niveis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5021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Sintaxe + DNS MX + SMTP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bounce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0965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no primeiro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bounce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469087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3, remove 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50292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Sunset policy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52852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90d sem abrir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6235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58795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Global. Opt-out nunca recebe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25112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25112" y="1691640"/>
            <a:ext cx="3611880" cy="7772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185623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de envio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53712" y="26517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53712" y="29077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hora e dominio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53712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horaria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53712" y="35021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8h-21h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38404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Multipart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53712" y="40965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plain text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53712" y="44348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List-Unsubscribe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53712" y="469087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one-click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53712" y="50292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Reply-to valido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53712" y="52852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Nao no-reply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53712" y="56235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Frequencia cap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53712" y="58795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3/semana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101584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01584" y="1691640"/>
            <a:ext cx="3611880" cy="77724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30184" y="185623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+ compliance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330184" y="26517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legal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30184" y="29077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 ou interesse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30184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opt-in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30184" y="35021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+ timestamp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30184" y="38404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Exclusao 1-clique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30184" y="40965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Confirmacao por e-mail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30184" y="44348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330184" y="469087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Endereco + CNPJ + DPO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30184" y="50292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330184" y="52852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Linkada em todos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330184" y="56235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EVO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330184" y="58795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Operador-controlador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3 - PT-BR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traducao completa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73152" cy="27432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288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~800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a traduzir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5 arquivos .po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1691640"/>
            <a:ext cx="717804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691640"/>
            <a:ext cx="73152" cy="45720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8288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63440" y="23317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49240" y="23317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locale padrao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49240" y="266090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default_locale: pt no config Gettext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310896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349240" y="31089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priv/gettext/pt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49240" y="343814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gettext.merge sincroniza com .pot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388620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38862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e-mails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421538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Boas-vindas, opt-in, redefinicao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466344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49240" y="4663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formatos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499262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DD/MM/AAAA, R$, virgula decimal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544068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49240" y="544068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Forcar locale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49240" y="576986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language=pt nos existentes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3 - REBRANDING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Keila para Fluxo Digital Tech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7784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73152" cy="45720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sair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237744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286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Keila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ocorrencias em 30+ arquivos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92608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elefante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logo.svg + favicon + og:image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" y="347472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383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Mascote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7472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Remover elephant lady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02336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3931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7472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keila.io, app.keila.io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" y="457200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4480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no-reply@keila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74720" y="4480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no-reply@fluxodigitaltech.com.br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8680" y="512064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300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docs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docs.fluxodigitaltech.com.br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" y="566928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43000" y="5577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 campanhas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74720" y="5577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Fluxo Email MKT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1691640"/>
            <a:ext cx="52578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55080" y="1691640"/>
            <a:ext cx="73152" cy="4572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entra no lugar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675120" y="23774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produto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2396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Email MKT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75120" y="292608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9440" y="2834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82396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675120" y="347472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82396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emailmkt.fluxodigitaltech.com.br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402336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tecnico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82396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no-reply@fluxodigitaltech.com.br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675120" y="457200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0" y="4480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823960" y="4480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Fluxo (substituir SVG)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675120" y="51206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5029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Tagline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82396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marketing brasileiro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675120" y="566928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5577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Modulos Elixir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823960" y="5577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Keila.* internamente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3 - REBRANDING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dos arquivos com Keila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3611880" cy="7772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013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VE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07568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e e-mails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lib/keila_web/templates/**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lib/keila/auth/emails.ex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priv/gettext/**/*.po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42062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.github/assets/logo.svg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assets/static/favicon.ico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5212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assets/static/images/og_image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25112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25112" y="1691640"/>
            <a:ext cx="3611880" cy="7772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18013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DEPLOY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207568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Configuracao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9432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config/runtime.exs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99432" y="32004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config/prod.exs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99432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.env.production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99432" y="42062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99432" y="47091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PRODUCTION_README.md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99432" y="5212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01584" y="169164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01584" y="1691640"/>
            <a:ext cx="3611880" cy="77724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30184" y="18013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CODIGO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30184" y="207568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Modulos Elixir (manter)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75904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lib/keila.ex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75904" y="32004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lib/keila_web.ex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75904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lib/keila/**/*.ex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75904" y="42062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Manter namespace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75904" y="47091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Custo de rename alto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75904" y="5212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Public API interna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em 6 sprints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1106424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900" y="3767328"/>
            <a:ext cx="731520" cy="731520"/>
          </a:xfrm>
          <a:prstGeom prst="ellipse">
            <a:avLst/>
          </a:prstGeom>
          <a:solidFill>
            <a:srgbClr val="0EA5E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04900" y="3767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66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pt-BR + Rebranding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52372" y="2743200"/>
            <a:ext cx="36576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709160"/>
            <a:ext cx="1569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 pt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Traducao .po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+ footer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Find/replace UI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948940" y="3767328"/>
            <a:ext cx="731520" cy="731520"/>
          </a:xfrm>
          <a:prstGeom prst="ellipse">
            <a:avLst/>
          </a:prstGeom>
          <a:solidFill>
            <a:srgbClr val="0C4A6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8940" y="3767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84120" y="1783080"/>
            <a:ext cx="166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Abas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84120" y="24231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6412" y="2743200"/>
            <a:ext cx="36576" cy="100584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29840" y="4709160"/>
            <a:ext cx="1569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tabelas + events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LiveView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abas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 contatos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92980" y="3767328"/>
            <a:ext cx="731520" cy="731520"/>
          </a:xfrm>
          <a:prstGeom prst="ellipse">
            <a:avLst/>
          </a:prstGeom>
          <a:solidFill>
            <a:srgbClr val="F9731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2980" y="3767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28160" y="1783080"/>
            <a:ext cx="166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+ Engine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28160" y="24231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140452" y="2743200"/>
            <a:ext cx="36576" cy="10058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3880" y="4709160"/>
            <a:ext cx="1569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StepWorker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ExitChecker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SuppressionGuard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637020" y="3767328"/>
            <a:ext cx="731520" cy="73152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37020" y="3767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72200" y="1783080"/>
            <a:ext cx="166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EVO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72200" y="24231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sem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84492" y="2743200"/>
            <a:ext cx="36576" cy="10058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4709160"/>
            <a:ext cx="1569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sync 30min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 sync 6h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Function XLSX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Mapeamento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481060" y="3767328"/>
            <a:ext cx="731520" cy="731520"/>
          </a:xfrm>
          <a:prstGeom prst="ellipse">
            <a:avLst/>
          </a:prstGeom>
          <a:solidFill>
            <a:srgbClr val="EF444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81060" y="3767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016240" y="1783080"/>
            <a:ext cx="166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Anti-spam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16240" y="24231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828532" y="2743200"/>
            <a:ext cx="36576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61960" y="4709160"/>
            <a:ext cx="1569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SPF/DKIM/DMARC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IP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Higiene + sunset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325100" y="3767328"/>
            <a:ext cx="731520" cy="731520"/>
          </a:xfrm>
          <a:prstGeom prst="ellipse">
            <a:avLst/>
          </a:prstGeom>
          <a:solidFill>
            <a:srgbClr val="F59E0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25100" y="3767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860280" y="1783080"/>
            <a:ext cx="166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+ piloto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860280" y="24231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dias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0672572" y="2743200"/>
            <a:ext cx="36576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06000" y="4709160"/>
            <a:ext cx="1569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Postmaster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Unidade-piloto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medir o sucesso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3721608"/>
            <a:ext cx="361188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2880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31520" y="27889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D+1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toque. Benchmark fitness BR.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691640"/>
            <a:ext cx="36118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3721608"/>
            <a:ext cx="3611880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5112" y="182880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60%+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507992" y="27889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D0 aniversario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07992" y="3154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Aniversario tem alto open rate.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1691640"/>
            <a:ext cx="36118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01584" y="3721608"/>
            <a:ext cx="361188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01584" y="182880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8%+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8284464" y="27889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Conversao lead-aluno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84464" y="3154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consolidada da cadencia.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6118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6053328"/>
            <a:ext cx="36118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1605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22%+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731520" y="5120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 do brinde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54864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Aniversariantes que usam presente.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25112" y="4023360"/>
            <a:ext cx="36118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25112" y="6053328"/>
            <a:ext cx="361188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25112" y="41605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0.1%-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4507992" y="5120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complaint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07992" y="54864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0.1% Gmail penaliza.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01584" y="4023360"/>
            <a:ext cx="36118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01584" y="6053328"/>
            <a:ext cx="3611880" cy="7315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01584" y="41605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800" dirty="0"/>
          </a:p>
        </p:txBody>
      </p:sp>
      <p:sp>
        <p:nvSpPr>
          <p:cNvPr id="33" name="Text 31"/>
          <p:cNvSpPr/>
          <p:nvPr/>
        </p:nvSpPr>
        <p:spPr>
          <a:xfrm>
            <a:off x="8284464" y="5120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pt-BR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84464" y="54864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string em ingles.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saida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73152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1965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Conversao / resgate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matriculou ou aluno resgatou.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319272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19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6118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25112" y="1691640"/>
            <a:ext cx="73152" cy="19659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3712" y="1965960"/>
            <a:ext cx="502920" cy="50292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12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9512" y="1965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Engajou no CTA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6060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agendamento ou cupom.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99432" y="3319272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3319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Engajou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01584" y="1691640"/>
            <a:ext cx="36118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01584" y="1691640"/>
            <a:ext cx="73152" cy="1965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30184" y="196596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3018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015984" y="1965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Respondeu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75904" y="26060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detectado. Comercial assume.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75904" y="3319272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5904" y="3319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886200"/>
            <a:ext cx="36118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886200"/>
            <a:ext cx="73152" cy="1965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416052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463040" y="4160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Descadastrou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48006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Unsubscribe. Opt-out global.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" y="5513832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513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Opt-out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325112" y="3886200"/>
            <a:ext cx="36118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25112" y="3886200"/>
            <a:ext cx="73152" cy="1965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3712" y="4160520"/>
            <a:ext cx="502920" cy="5029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53712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239512" y="4160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bounce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599432" y="48006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invalido. Cancela tudo.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99432" y="5513832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99432" y="5513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101584" y="3886200"/>
            <a:ext cx="36118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101584" y="3886200"/>
            <a:ext cx="73152" cy="1965960"/>
          </a:xfrm>
          <a:prstGeom prst="rect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30184" y="4160520"/>
            <a:ext cx="502920" cy="502920"/>
          </a:xfrm>
          <a:prstGeom prst="ellipse">
            <a:avLst/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330184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9015984" y="4160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Frequencia cap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375904" y="48006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3/semana. Pula step.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75904" y="5513832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0C4A6E"/>
          </a:solidFill>
          <a:ln w="12700">
            <a:solidFill>
              <a:srgbClr val="0C4A6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75904" y="5513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48640" y="6492240"/>
            <a:ext cx="11064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Digital Tech - Fluxo Email MKT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002975" y="65653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4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7315200" cy="7315200"/>
          </a:xfrm>
          <a:prstGeom prst="ellipse">
            <a:avLst/>
          </a:prstGeom>
          <a:solidFill>
            <a:srgbClr val="F97316">
              <a:alpha val="20000"/>
            </a:srgbClr>
          </a:solidFill>
          <a:ln w="12700">
            <a:solidFill>
              <a:srgbClr val="F97316">
                <a:alpha val="2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PASSOS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precisamos do time hoje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057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copies das duas cadencias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377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4 e-mails (lead) e 3 (aniversario).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743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presente de aniversario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0632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off mensalidade? Aula? Kit?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provedor de envio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37490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Postmark, SES ou SMTP proprio?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41148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checklist anti-spam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63040" y="4434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SPF/DKIM/DMARC + Postmaster antes do volume.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8463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6304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unidade-piloto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63040" y="5120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2 academias, teste de 30 dias.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5321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532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kickoff Sprint 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6304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Comecar pt-BR + rebranding nesta semana.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Cleiton Sampaio - Fluxo Digital Tech - cleiton.nso2019@gmail.com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2026-04-28T15:20:37Z</dcterms:created>
  <dcterms:modified xsi:type="dcterms:W3CDTF">2026-04-28T15:20:37Z</dcterms:modified>
</cp:coreProperties>
</file>